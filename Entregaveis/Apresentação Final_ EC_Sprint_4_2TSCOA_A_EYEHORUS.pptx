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65" r:id="rId5"/>
    <p:sldId id="266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Antunes" initials="VA" lastIdx="1" clrIdx="0">
    <p:extLst>
      <p:ext uri="{19B8F6BF-5375-455C-9EA6-DF929625EA0E}">
        <p15:presenceInfo xmlns:p15="http://schemas.microsoft.com/office/powerpoint/2012/main" userId="ece96f8b545026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533" autoAdjust="0"/>
  </p:normalViewPr>
  <p:slideViewPr>
    <p:cSldViewPr snapToGrid="0" snapToObjects="1">
      <p:cViewPr varScale="1">
        <p:scale>
          <a:sx n="64" d="100"/>
          <a:sy n="64" d="100"/>
        </p:scale>
        <p:origin x="139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1T19:10:32.361" idx="1">
    <p:pos x="6698" y="1847"/>
    <p:text>Se achar estranho, é uma recomendação do template repassado aos alunos. 
SOLUÇÃO FINAL: DESCRIÇÃO RESUMIDA
&lt; colocara aqui a descrição resumida de sua solução final em no máximo 2 parágrafos. &gt;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19A36-4FB8-4E59-AAC8-C0370F69217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1E1CC-2290-4C22-B319-BF7B903A4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33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Engenheiros de Nível 2 e 3 estão sendo soterrados por chamados de prioridade Média e Alta, recebendo tickets sem categorização e sendo bombardeados por falsos positivos do monitoramento.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Durante nossa análise nos dados da Locaweb, identificamos o </a:t>
            </a:r>
            <a:r>
              <a:rPr lang="pt-BR" sz="1800" i="1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Team 05</a:t>
            </a:r>
            <a:r>
              <a:rPr lang="pt-B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levando até 13 horas para resolver incidentes da categoria 76, e tickets fantasmas abertos há mais de 340 dias, poluindo as métricas da diretoria.</a:t>
            </a:r>
            <a:endParaRPr lang="pt-BR" sz="18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Escalar a operação apenas contratando mais pessoas custa caro e não resolve a raiz do problema. Precisamos urgente de uma camada de inteligência que antecipe o caos antes que ele chegue ao cliente final."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1E1CC-2290-4C22-B319-BF7B903A49D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587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Abordagem Adotada (Data-</a:t>
            </a:r>
            <a:r>
              <a:rPr lang="pt-BR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Ágil):</a:t>
            </a: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focando em experimentação contínua (Data </a:t>
            </a:r>
            <a:r>
              <a:rPr lang="pt-BR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Trimming</a:t>
            </a: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para modelar o comportamento operacional real das equipes de Nível 2 e 3.</a:t>
            </a:r>
            <a:endParaRPr lang="pt-BR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1E1CC-2290-4C22-B319-BF7B903A49D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3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Fonte- Base histórica de ITSM da Locaweb CSV contendo registros operacionais, prioridades, equipes e categorização.</a:t>
            </a:r>
          </a:p>
          <a:p>
            <a:endParaRPr lang="pt-BR" dirty="0"/>
          </a:p>
          <a:p>
            <a:r>
              <a:rPr lang="pt-BR" dirty="0"/>
              <a:t>Python – Processamento Principal ETL, responsável pela limpeza, engenharia de atributos e treinamento validação dos algoritmos.</a:t>
            </a:r>
          </a:p>
          <a:p>
            <a:endParaRPr lang="pt-BR" dirty="0"/>
          </a:p>
          <a:p>
            <a:r>
              <a:rPr lang="pt-BR" dirty="0"/>
              <a:t>Oracle DB Infraestrutura de nuvem recebe e armazena os dados processos e as predições geradas pelos modelos, garantindo escalabilidade.</a:t>
            </a:r>
          </a:p>
          <a:p>
            <a:endParaRPr lang="pt-BR" dirty="0"/>
          </a:p>
          <a:p>
            <a:r>
              <a:rPr lang="pt-BR" dirty="0" err="1"/>
              <a:t>Groq</a:t>
            </a:r>
            <a:r>
              <a:rPr lang="pt-BR" dirty="0"/>
              <a:t> API – Motor de Inferência Generativa consome os dados dos chamados </a:t>
            </a:r>
            <a:r>
              <a:rPr lang="pt-BR" dirty="0" err="1"/>
              <a:t>creíticos</a:t>
            </a:r>
            <a:r>
              <a:rPr lang="pt-BR" dirty="0"/>
              <a:t> e </a:t>
            </a:r>
            <a:r>
              <a:rPr lang="pt-BR" dirty="0" err="1"/>
              <a:t>gerta</a:t>
            </a:r>
            <a:r>
              <a:rPr lang="pt-BR" dirty="0"/>
              <a:t> os textos de recomendação de ação para mitigar os gargalos operacionais</a:t>
            </a:r>
          </a:p>
          <a:p>
            <a:endParaRPr lang="pt-BR" dirty="0"/>
          </a:p>
          <a:p>
            <a:r>
              <a:rPr lang="pt-BR" dirty="0" err="1"/>
              <a:t>PowerBI</a:t>
            </a:r>
            <a:r>
              <a:rPr lang="pt-BR" dirty="0"/>
              <a:t> camada de data </a:t>
            </a:r>
            <a:r>
              <a:rPr lang="pt-BR" dirty="0" err="1"/>
              <a:t>viz</a:t>
            </a:r>
            <a:r>
              <a:rPr lang="pt-BR" dirty="0"/>
              <a:t>, </a:t>
            </a:r>
            <a:r>
              <a:rPr lang="pt-BR" dirty="0" err="1"/>
              <a:t>concetando</a:t>
            </a:r>
            <a:r>
              <a:rPr lang="pt-BR" dirty="0"/>
              <a:t> os dados </a:t>
            </a:r>
            <a:r>
              <a:rPr lang="pt-BR" dirty="0" err="1"/>
              <a:t>rocessoas</a:t>
            </a:r>
            <a:r>
              <a:rPr lang="pt-BR" dirty="0"/>
              <a:t> para materializar os algoritmos em um dashboard interativo e executivo.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1E1CC-2290-4C22-B319-BF7B903A49D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019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[0:00 - 0:20] Abertura da Demo &amp; Contexto de Uso</a:t>
            </a:r>
            <a:r>
              <a:rPr lang="pt-BR" dirty="0"/>
              <a:t> "Para mostrar que nossa arquitetura não é apenas teórica, aqui está o link funcional do A-EYEHORUS SENTINEL operando no Power BI, consumindo os dados diretamente do Oracle Cloud. Esta é a ferramenta de trabalho diária do Coordenador de TI da Locaweb. O objetivo dele aqui não é olhar chamados velhos, é olhar para o futuro."</a:t>
            </a:r>
          </a:p>
          <a:p>
            <a:r>
              <a:rPr lang="pt-BR" b="1" dirty="0"/>
              <a:t>[0:20 - 0:50] Explicando a Visão Macro (Motor Preditivo)</a:t>
            </a:r>
            <a:r>
              <a:rPr lang="pt-BR" dirty="0"/>
              <a:t> </a:t>
            </a:r>
            <a:r>
              <a:rPr lang="pt-BR" i="1" dirty="0"/>
              <a:t>(Mostre o Print 1 ou a tela do Power BI no gráfico de linhas)</a:t>
            </a:r>
            <a:r>
              <a:rPr lang="pt-BR" dirty="0"/>
              <a:t> "Nesta primeira visão, nosso Motor Preditivo com </a:t>
            </a:r>
            <a:r>
              <a:rPr lang="pt-BR" dirty="0" err="1"/>
              <a:t>XGBoost</a:t>
            </a:r>
            <a:r>
              <a:rPr lang="pt-BR" dirty="0"/>
              <a:t> projeta o volume de chamados para o dia de amanhã e para a próxima semana. Ao cruzar a sazonalidade com a pressão operacional das equipes, o gestor de TI sabe exatamente se precisará escalar mais analistas para o turno, evitando o colapso das filas antes mesmo dele começar."</a:t>
            </a:r>
          </a:p>
          <a:p>
            <a:r>
              <a:rPr lang="pt-BR" b="1" dirty="0"/>
              <a:t>[0:50 - 1:30] Explicando a Visão Micro (Guardião de OLA)</a:t>
            </a:r>
            <a:r>
              <a:rPr lang="pt-BR" dirty="0"/>
              <a:t> </a:t>
            </a:r>
            <a:r>
              <a:rPr lang="pt-BR" dirty="0">
                <a:effectLst/>
                <a:latin typeface="Google Sans Text"/>
              </a:rPr>
              <a:t>"Mas a grande inteligência para atuar no problema está na visão Micro. Nós rodamos um algoritmo de </a:t>
            </a:r>
            <a:r>
              <a:rPr lang="pt-BR" dirty="0" err="1">
                <a:effectLst/>
                <a:latin typeface="Google Sans Text"/>
              </a:rPr>
              <a:t>clusterização</a:t>
            </a:r>
            <a:r>
              <a:rPr lang="pt-BR" dirty="0">
                <a:effectLst/>
                <a:latin typeface="Google Sans Text"/>
              </a:rPr>
              <a:t> (K-</a:t>
            </a:r>
            <a:r>
              <a:rPr lang="pt-BR" dirty="0" err="1">
                <a:effectLst/>
                <a:latin typeface="Google Sans Text"/>
              </a:rPr>
              <a:t>Means</a:t>
            </a:r>
            <a:r>
              <a:rPr lang="pt-BR" dirty="0">
                <a:effectLst/>
                <a:latin typeface="Google Sans Text"/>
              </a:rPr>
              <a:t>) no histórico da Locaweb e criamos essa Matriz de Risco real, cruzando o volume de chamados com o tempo de fila.</a:t>
            </a:r>
          </a:p>
          <a:p>
            <a:r>
              <a:rPr lang="pt-BR" dirty="0">
                <a:effectLst/>
                <a:latin typeface="Google Sans Text"/>
              </a:rPr>
              <a:t>O modelo isolou perfeitamente 4 'personas' operacionais: Essa bolha gigante de 86 mil chamados do </a:t>
            </a:r>
            <a:r>
              <a:rPr lang="pt-BR" b="1" dirty="0">
                <a:effectLst/>
                <a:latin typeface="Google Sans Text"/>
              </a:rPr>
              <a:t>Team 14</a:t>
            </a:r>
            <a:r>
              <a:rPr lang="pt-BR" dirty="0">
                <a:effectLst/>
                <a:latin typeface="Google Sans Text"/>
              </a:rPr>
              <a:t> é puro ruído de monitoramento de baixa prioridade. Essa bolha isolada lá no topo é o </a:t>
            </a:r>
            <a:r>
              <a:rPr lang="pt-BR" b="1" dirty="0">
                <a:effectLst/>
                <a:latin typeface="Google Sans Text"/>
              </a:rPr>
              <a:t>Team 11</a:t>
            </a:r>
            <a:r>
              <a:rPr lang="pt-BR" dirty="0">
                <a:effectLst/>
                <a:latin typeface="Google Sans Text"/>
              </a:rPr>
              <a:t>, um buraco negro de chamados manuais que travam por 175 horas. </a:t>
            </a:r>
          </a:p>
          <a:p>
            <a:r>
              <a:rPr lang="pt-BR" dirty="0">
                <a:effectLst/>
                <a:latin typeface="Google Sans Text"/>
              </a:rPr>
              <a:t>Mas o verdadeiro risco sistêmico que o nosso Guardião de OLA monitora é o </a:t>
            </a:r>
            <a:r>
              <a:rPr lang="pt-BR" b="1" dirty="0">
                <a:effectLst/>
                <a:latin typeface="Google Sans Text"/>
              </a:rPr>
              <a:t>Team 05</a:t>
            </a:r>
            <a:r>
              <a:rPr lang="pt-BR" dirty="0">
                <a:effectLst/>
                <a:latin typeface="Google Sans Text"/>
              </a:rPr>
              <a:t>: chamados de Prioridade Alta (P2) da </a:t>
            </a:r>
            <a:r>
              <a:rPr lang="pt-BR" i="1" dirty="0">
                <a:effectLst/>
                <a:latin typeface="Google Sans Text"/>
              </a:rPr>
              <a:t>categoria 76</a:t>
            </a:r>
            <a:r>
              <a:rPr lang="pt-BR" dirty="0">
                <a:effectLst/>
                <a:latin typeface="Google Sans Text"/>
              </a:rPr>
              <a:t> que demoram 13 horas. Nosso modelo cruza esses padrões no 'minuto zero' da abertura de um novo ticket e detecta com 79% de precisão quais vão estourar o prazo, permitindo ao coordenador puxar a crise direto para o topo do </a:t>
            </a:r>
            <a:r>
              <a:rPr lang="pt-BR" dirty="0" err="1">
                <a:effectLst/>
                <a:latin typeface="Google Sans Text"/>
              </a:rPr>
              <a:t>Kanban</a:t>
            </a:r>
            <a:r>
              <a:rPr lang="pt-BR" dirty="0">
                <a:effectLst/>
                <a:latin typeface="Google Sans Text"/>
              </a:rPr>
              <a:t>." </a:t>
            </a:r>
          </a:p>
          <a:p>
            <a:r>
              <a:rPr lang="pt-BR" b="1" dirty="0"/>
              <a:t>[1:30 - 2:00] Explicando o LLM (War Room)</a:t>
            </a:r>
            <a:r>
              <a:rPr lang="pt-BR" dirty="0"/>
              <a:t> </a:t>
            </a:r>
            <a:r>
              <a:rPr lang="pt-BR" i="1" dirty="0"/>
              <a:t>(Mude para o Print 3 ou dê zoom na tabela do Llama-3)</a:t>
            </a:r>
            <a:r>
              <a:rPr lang="pt-BR" dirty="0"/>
              <a:t> "E para fechar o ciclo de </a:t>
            </a:r>
            <a:r>
              <a:rPr lang="pt-BR" dirty="0" err="1"/>
              <a:t>AIOps</a:t>
            </a:r>
            <a:r>
              <a:rPr lang="pt-BR" dirty="0"/>
              <a:t>, nós não apenas alertamos o risco, nós prescrevemos a solução. Integrado à API da </a:t>
            </a:r>
            <a:r>
              <a:rPr lang="pt-BR" dirty="0" err="1"/>
              <a:t>Groq</a:t>
            </a:r>
            <a:r>
              <a:rPr lang="pt-BR" dirty="0"/>
              <a:t> com o GPT-OSS-120b, o </a:t>
            </a:r>
            <a:r>
              <a:rPr lang="pt-BR" dirty="0" err="1"/>
              <a:t>Sentinel</a:t>
            </a:r>
            <a:r>
              <a:rPr lang="pt-BR" dirty="0"/>
              <a:t> atua como um War Room automatizado. Como vocês podem ver neste print destacado, para um chamado crítico do Team 14, a IA já orienta o analista com o texto prescritivo: </a:t>
            </a:r>
            <a:r>
              <a:rPr lang="pt-BR" i="1" dirty="0"/>
              <a:t>'Escalar e priorizar fila no </a:t>
            </a:r>
            <a:r>
              <a:rPr lang="pt-BR" i="1" dirty="0" err="1"/>
              <a:t>Kanban</a:t>
            </a:r>
            <a:r>
              <a:rPr lang="pt-BR" i="1" dirty="0"/>
              <a:t>'</a:t>
            </a:r>
            <a:r>
              <a:rPr lang="pt-BR" dirty="0"/>
              <a:t>. É assim que transformamos dados puros em eficiência operacional na veia."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1E1CC-2290-4C22-B319-BF7B903A49D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3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JsG8Q2Z-9as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app.powerbi.com/links/wkgq9wbh6x?ctid=11dbbfe2-89b8-4549-be10-cec364e59551&amp;pbi_source=linkShar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09750" y="4061519"/>
            <a:ext cx="8572500" cy="1478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9750" y="4267772"/>
            <a:ext cx="857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0296" y="726929"/>
            <a:ext cx="11251406" cy="1657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egoe UI"/>
              </a:rPr>
              <a:t>A-EYEHORUS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296" y="2198541"/>
            <a:ext cx="11251406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8FAFC"/>
                </a:solidFill>
                <a:latin typeface="Segoe UI"/>
              </a:rPr>
              <a:t>PLATAFORMA PREDITIVA DE AIOPS PARA ITSM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187" y="4658297"/>
            <a:ext cx="1071562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 dirty="0">
                <a:solidFill>
                  <a:srgbClr val="FFFFFF"/>
                </a:solidFill>
                <a:latin typeface="Segoe UI"/>
              </a:rPr>
              <a:t>Enterprise Challenge 2026 - Sprint 4: </a:t>
            </a:r>
            <a:r>
              <a:rPr sz="1650" b="1" i="0" u="none" dirty="0" err="1">
                <a:solidFill>
                  <a:srgbClr val="FFFFFF"/>
                </a:solidFill>
                <a:latin typeface="Segoe UI"/>
              </a:rPr>
              <a:t>Entrega</a:t>
            </a:r>
            <a:r>
              <a:rPr sz="1650" b="1" i="0" u="none" dirty="0">
                <a:solidFill>
                  <a:srgbClr val="FFFFFF"/>
                </a:solidFill>
                <a:latin typeface="Segoe UI"/>
              </a:rPr>
              <a:t> da </a:t>
            </a:r>
            <a:r>
              <a:rPr sz="1650" b="1" i="0" u="none" dirty="0" err="1">
                <a:solidFill>
                  <a:srgbClr val="FFFFFF"/>
                </a:solidFill>
                <a:latin typeface="Segoe UI"/>
              </a:rPr>
              <a:t>Solução</a:t>
            </a:r>
            <a:r>
              <a:rPr sz="1650" b="1" i="0" u="none" dirty="0">
                <a:solidFill>
                  <a:srgbClr val="FFFFFF"/>
                </a:solidFill>
                <a:latin typeface="Segoe UI"/>
              </a:rPr>
              <a:t>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187" y="5088708"/>
            <a:ext cx="1071562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 err="1">
                <a:solidFill>
                  <a:srgbClr val="A0ABC0"/>
                </a:solidFill>
                <a:latin typeface="Segoe UI"/>
              </a:rPr>
              <a:t>Desenvolvido</a:t>
            </a:r>
            <a:r>
              <a:rPr sz="1650" b="0" i="0" u="none" dirty="0">
                <a:solidFill>
                  <a:srgbClr val="A0ABC0"/>
                </a:solidFill>
                <a:latin typeface="Segoe UI"/>
              </a:rPr>
              <a:t> por: </a:t>
            </a:r>
            <a:r>
              <a:rPr sz="1650" b="1" i="0" u="none" dirty="0">
                <a:solidFill>
                  <a:srgbClr val="A0ABC0"/>
                </a:solidFill>
                <a:latin typeface="Segoe UI"/>
              </a:rPr>
              <a:t>Vitor Fernandes Antunes (RM563053)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868" y="5471494"/>
            <a:ext cx="1618265" cy="5329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sz="1350" dirty="0">
                <a:solidFill>
                  <a:srgbClr val="A0ABC0"/>
                </a:solidFill>
                <a:latin typeface="Segoe UI"/>
              </a:rPr>
              <a:t>Turma: 2TSCOA-2026</a:t>
            </a:r>
            <a:endParaRPr lang="pt-BR" sz="1350" b="0" i="0" u="none" dirty="0">
              <a:solidFill>
                <a:srgbClr val="A0ABC0"/>
              </a:solidFill>
              <a:latin typeface="Segoe UI"/>
            </a:endParaRPr>
          </a:p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A0ABC0"/>
                </a:solidFill>
                <a:latin typeface="Segoe UI"/>
              </a:rPr>
              <a:t>Squad Solo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DFF51C5-41BC-4B1C-91FA-4155D3E30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48918"/>
            <a:ext cx="8307655" cy="13716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3D8A9C1-C20B-467D-A321-FC66E390552D}"/>
              </a:ext>
            </a:extLst>
          </p:cNvPr>
          <p:cNvSpPr txBox="1"/>
          <p:nvPr/>
        </p:nvSpPr>
        <p:spPr>
          <a:xfrm>
            <a:off x="1558347" y="2665267"/>
            <a:ext cx="90753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Transforma a gestão de incidentes de reativa para preditiva. Através de modelagem com </a:t>
            </a:r>
            <a:r>
              <a:rPr lang="pt-BR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K-</a:t>
            </a:r>
            <a:r>
              <a:rPr lang="pt-BR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Means</a:t>
            </a: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integração com LLM (</a:t>
            </a:r>
            <a:r>
              <a:rPr lang="pt-BR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Groq</a:t>
            </a: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pt-BR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OpenAIGPT</a:t>
            </a: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o sistema antecipa picos de chamados operacionais e riscos de quebra de prazo (SLA/OLA), além de recomendar ações mitigatórias em tempo real via dashboard gerencial, otimizando a produtividade das equipes de Nível 2 e Nível 3.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0"/>
    </mc:Choice>
    <mc:Fallback xmlns="">
      <p:transition spd="slow" advTm="2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56765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56865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556965"/>
            <a:ext cx="114300" cy="200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16548" y="4338139"/>
            <a:ext cx="5191125" cy="2243732"/>
          </a:xfrm>
          <a:prstGeom prst="roundRect">
            <a:avLst>
              <a:gd name="adj" fmla="val 1698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16548" y="4338139"/>
            <a:ext cx="38100" cy="2243732"/>
          </a:xfrm>
          <a:prstGeom prst="rect">
            <a:avLst/>
          </a:prstGeom>
          <a:solidFill>
            <a:srgbClr val="8C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44780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4125" y="144780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50" y="476250"/>
            <a:ext cx="1150143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 err="1">
                <a:solidFill>
                  <a:srgbClr val="0F243B"/>
                </a:solidFill>
                <a:latin typeface="Segoe UI"/>
              </a:rPr>
              <a:t>Contextualização</a:t>
            </a:r>
            <a:r>
              <a:rPr sz="3150" b="1" i="0" u="none" dirty="0">
                <a:solidFill>
                  <a:srgbClr val="0F243B"/>
                </a:solidFill>
                <a:latin typeface="Segoe UI"/>
              </a:rPr>
              <a:t> do </a:t>
            </a:r>
            <a:r>
              <a:rPr sz="3150" b="1" i="0" u="none" dirty="0" err="1">
                <a:solidFill>
                  <a:srgbClr val="0F243B"/>
                </a:solidFill>
                <a:latin typeface="Segoe UI"/>
              </a:rPr>
              <a:t>Desafi</a:t>
            </a:r>
            <a:r>
              <a:rPr lang="pt-BR" sz="3150" b="1" i="0" u="none" dirty="0">
                <a:solidFill>
                  <a:srgbClr val="0F243B"/>
                </a:solidFill>
                <a:latin typeface="Segoe UI"/>
              </a:rPr>
              <a:t>o</a:t>
            </a:r>
            <a:endParaRPr sz="3150" b="1" i="0" u="none" dirty="0">
              <a:solidFill>
                <a:srgbClr val="8C33A1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750" y="1409700"/>
            <a:ext cx="5103735" cy="3238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lang="pt-BR" sz="2100" b="1" i="0" u="none" dirty="0">
                <a:solidFill>
                  <a:srgbClr val="0F243B"/>
                </a:solidFill>
                <a:latin typeface="Segoe UI"/>
              </a:rPr>
              <a:t>Cenário e </a:t>
            </a:r>
            <a:r>
              <a:rPr sz="2100" b="1" i="0" u="none" dirty="0" err="1">
                <a:solidFill>
                  <a:srgbClr val="0F243B"/>
                </a:solidFill>
                <a:latin typeface="Segoe UI"/>
              </a:rPr>
              <a:t>Problema</a:t>
            </a:r>
            <a:r>
              <a:rPr sz="2100" b="1" i="0" u="none" dirty="0">
                <a:solidFill>
                  <a:srgbClr val="0F243B"/>
                </a:solidFill>
                <a:latin typeface="Segoe UI"/>
              </a:rPr>
              <a:t> </a:t>
            </a:r>
            <a:r>
              <a:rPr sz="2100" b="1" i="0" u="none" dirty="0" err="1">
                <a:solidFill>
                  <a:srgbClr val="0F243B"/>
                </a:solidFill>
                <a:latin typeface="Segoe UI"/>
              </a:rPr>
              <a:t>Atual</a:t>
            </a:r>
            <a:endParaRPr sz="2100" b="1" i="0" u="none" dirty="0">
              <a:solidFill>
                <a:srgbClr val="0F243B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1932906"/>
            <a:ext cx="5286375" cy="2736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A operação de suporte e gestão de incidentes (ITSM) da Locaweb processa um volume massivo de chamados diários para garantir a alta disponibilidade dos serviços em nuvem.</a:t>
            </a:r>
          </a:p>
          <a:p>
            <a:pPr>
              <a:lnSpc>
                <a:spcPts val="2400"/>
              </a:lnSpc>
            </a:pPr>
            <a:endParaRPr lang="pt-BR" sz="1500" dirty="0">
              <a:solidFill>
                <a:srgbClr val="5A6268"/>
              </a:solidFill>
              <a:latin typeface="Segoe UI"/>
            </a:endParaRPr>
          </a:p>
          <a:p>
            <a:pPr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A gestão de incidentes (ITSM) em grandes operações, como a da Locaweb, opera frequentemente em um modelo </a:t>
            </a:r>
            <a:r>
              <a:rPr lang="pt-BR" sz="1500" b="1" i="0" u="none" dirty="0">
                <a:solidFill>
                  <a:srgbClr val="5A6268"/>
                </a:solidFill>
                <a:latin typeface="Segoe UI"/>
              </a:rPr>
              <a:t>reativo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. A "inércia operacional" impede a antecipação de falhas sistêmicas.</a:t>
            </a:r>
          </a:p>
          <a:p>
            <a:pPr algn="l"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1937715"/>
            <a:ext cx="4953000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Violações de OLA/SLA que prejudicam a experiência do cliente final.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67500" y="2737815"/>
            <a:ext cx="4953000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Desperdício Técnico: gargalos onde times (Team 05) levam em média 13 horas em incidentes críticos (cat76).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3537915"/>
            <a:ext cx="4953000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dirty="0">
                <a:solidFill>
                  <a:srgbClr val="5A6268"/>
                </a:solidFill>
                <a:latin typeface="Segoe UI"/>
              </a:rPr>
              <a:t>“Tickets Órfãos no backlog esquecidos por até 340 dias.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5148" y="4528639"/>
            <a:ext cx="4867275" cy="297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pt-BR" sz="1650" b="1" i="0" u="none" dirty="0">
                <a:solidFill>
                  <a:srgbClr val="0F243B"/>
                </a:solidFill>
                <a:latin typeface="Segoe UI"/>
              </a:rPr>
              <a:t>A Urgência</a:t>
            </a:r>
            <a:endParaRPr sz="1650" b="1" i="0" u="none" dirty="0">
              <a:solidFill>
                <a:srgbClr val="0F243B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5148" y="4965736"/>
            <a:ext cx="4867275" cy="1379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pt-BR" sz="1350" b="0" i="0" u="none" dirty="0">
                <a:solidFill>
                  <a:srgbClr val="5A6268"/>
                </a:solidFill>
                <a:latin typeface="Segoe UI"/>
              </a:rPr>
              <a:t>Com o crescimento da base de clientes, escalar o suporte apenas contratando mais pessoas é inviável. É urgente migrar para o </a:t>
            </a:r>
            <a:r>
              <a:rPr lang="pt-BR" sz="1350" b="0" i="0" u="none" dirty="0" err="1">
                <a:solidFill>
                  <a:srgbClr val="5A6268"/>
                </a:solidFill>
                <a:latin typeface="Segoe UI"/>
              </a:rPr>
              <a:t>AIOps</a:t>
            </a:r>
            <a:r>
              <a:rPr lang="pt-BR" sz="1350" b="0" i="0" u="none" dirty="0">
                <a:solidFill>
                  <a:srgbClr val="5A6268"/>
                </a:solidFill>
                <a:latin typeface="Segoe UI"/>
              </a:rPr>
              <a:t> para estancar perdas financeiras (</a:t>
            </a:r>
            <a:r>
              <a:rPr lang="pt-BR" sz="1350" b="0" i="0" u="none" dirty="0" err="1">
                <a:solidFill>
                  <a:srgbClr val="5A6268"/>
                </a:solidFill>
                <a:latin typeface="Segoe UI"/>
              </a:rPr>
              <a:t>churn</a:t>
            </a:r>
            <a:r>
              <a:rPr lang="pt-BR" sz="1350" b="0" i="0" u="none" dirty="0">
                <a:solidFill>
                  <a:srgbClr val="5A6268"/>
                </a:solidFill>
                <a:latin typeface="Segoe UI"/>
              </a:rPr>
              <a:t>), evitar o colapso das filas e liberar os engenheiros para inovação, não apenas para "apagar incêndios".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43CC8550-1A16-4F8F-B019-CF8939964AB4}"/>
              </a:ext>
            </a:extLst>
          </p:cNvPr>
          <p:cNvSpPr txBox="1"/>
          <p:nvPr/>
        </p:nvSpPr>
        <p:spPr>
          <a:xfrm>
            <a:off x="6467475" y="1419225"/>
            <a:ext cx="5103735" cy="3238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lang="pt-BR" sz="2100" b="1" i="0" u="none" dirty="0">
                <a:solidFill>
                  <a:srgbClr val="0F243B"/>
                </a:solidFill>
                <a:latin typeface="Segoe UI"/>
              </a:rPr>
              <a:t>Im</a:t>
            </a:r>
            <a:r>
              <a:rPr lang="pt-BR" sz="2100" b="1" dirty="0">
                <a:solidFill>
                  <a:srgbClr val="0F243B"/>
                </a:solidFill>
                <a:latin typeface="Segoe UI"/>
              </a:rPr>
              <a:t>pacto Real</a:t>
            </a:r>
            <a:endParaRPr sz="2100" b="1" i="0" u="none" dirty="0">
              <a:solidFill>
                <a:srgbClr val="0F243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235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0"/>
    </mc:Choice>
    <mc:Fallback xmlns="">
      <p:transition spd="slow" advTm="3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845270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645370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5445470"/>
            <a:ext cx="114300" cy="200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750" y="476250"/>
            <a:ext cx="1150143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 err="1">
                <a:solidFill>
                  <a:srgbClr val="8C33A1"/>
                </a:solidFill>
                <a:latin typeface="Segoe UI"/>
              </a:rPr>
              <a:t>Objetivo</a:t>
            </a:r>
            <a:r>
              <a:rPr lang="pt-BR" sz="3150" b="1" i="0" u="none" dirty="0">
                <a:solidFill>
                  <a:srgbClr val="8C33A1"/>
                </a:solidFill>
                <a:latin typeface="Segoe UI"/>
              </a:rPr>
              <a:t> do Projeto</a:t>
            </a:r>
            <a:endParaRPr sz="3150" b="1" i="0" u="none" dirty="0">
              <a:solidFill>
                <a:srgbClr val="8C33A1"/>
              </a:solidFill>
              <a:latin typeface="Segoe U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FB3F75C-1DE9-4A28-B4FB-03CFE6D0D106}"/>
              </a:ext>
            </a:extLst>
          </p:cNvPr>
          <p:cNvGrpSpPr/>
          <p:nvPr/>
        </p:nvGrpSpPr>
        <p:grpSpPr>
          <a:xfrm>
            <a:off x="666750" y="1534635"/>
            <a:ext cx="1030731" cy="323165"/>
            <a:chOff x="666750" y="1409700"/>
            <a:chExt cx="1030731" cy="323165"/>
          </a:xfrm>
        </p:grpSpPr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447800"/>
              <a:ext cx="266700" cy="2667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66750" y="1409700"/>
              <a:ext cx="1030731" cy="323165"/>
            </a:xfrm>
            <a:prstGeom prst="rect">
              <a:avLst/>
            </a:prstGeom>
            <a:noFill/>
          </p:spPr>
          <p:txBody>
            <a:bodyPr wrap="none" lIns="361950" tIns="0" rIns="0" bIns="0" anchor="t">
              <a:spAutoFit/>
            </a:bodyPr>
            <a:lstStyle/>
            <a:p>
              <a:pPr algn="l"/>
              <a:r>
                <a:rPr lang="pt-BR" sz="2100" b="1" dirty="0">
                  <a:solidFill>
                    <a:srgbClr val="0F243B"/>
                  </a:solidFill>
                  <a:latin typeface="Segoe UI"/>
                </a:rPr>
                <a:t>Geral</a:t>
              </a:r>
              <a:endParaRPr sz="2100" b="1" i="0" u="none" dirty="0">
                <a:solidFill>
                  <a:srgbClr val="0F243B"/>
                </a:solidFill>
                <a:latin typeface="Segoe UI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66749" y="2048985"/>
            <a:ext cx="10858499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	Implementar o pipeline preditivo de </a:t>
            </a:r>
            <a:r>
              <a:rPr lang="pt-BR" sz="1500" b="0" i="0" u="none" dirty="0" err="1">
                <a:solidFill>
                  <a:srgbClr val="5A6268"/>
                </a:solidFill>
                <a:latin typeface="Segoe UI"/>
              </a:rPr>
              <a:t>AIOps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A-EYEHORUS SENTINEL para antecipar anomalias de volume e riscos de quebra de OLA, transformando a gestão de incidentes de TI da Locaweb de um modelo reativo para uma atuação ágil e prescritiva.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6824" y="3768764"/>
            <a:ext cx="8143505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1" i="0" u="none" dirty="0">
                <a:solidFill>
                  <a:srgbClr val="5A6268"/>
                </a:solidFill>
                <a:latin typeface="Segoe UI"/>
              </a:rPr>
              <a:t>Prever: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Estimar o volume futuro de chamados no curto e médio prazo (D+1 e D+7) para evitar sobrecarga das filas.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6824" y="4597592"/>
            <a:ext cx="10258423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1" i="0" u="none" dirty="0">
                <a:solidFill>
                  <a:srgbClr val="5A6268"/>
                </a:solidFill>
                <a:latin typeface="Segoe UI"/>
              </a:rPr>
              <a:t>Classificar: 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Identificar no "minuto zero" os tickets críticos com alto risco de violação de prazo.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4" y="5426420"/>
            <a:ext cx="8010341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sz="1500" b="1" i="0" u="none" dirty="0">
                <a:solidFill>
                  <a:srgbClr val="5A6268"/>
                </a:solidFill>
                <a:latin typeface="Segoe UI"/>
              </a:rPr>
              <a:t>Prescrever: 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Direcionar ações corretivas em tempo real para as equipes operacionais utilizando Inteligência Artificial Generativa.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3A0EE00-694E-4229-B02B-A6C8DC4D43C0}"/>
              </a:ext>
            </a:extLst>
          </p:cNvPr>
          <p:cNvGrpSpPr/>
          <p:nvPr/>
        </p:nvGrpSpPr>
        <p:grpSpPr>
          <a:xfrm>
            <a:off x="666750" y="3168382"/>
            <a:ext cx="1739259" cy="323165"/>
            <a:chOff x="666750" y="1409700"/>
            <a:chExt cx="1739259" cy="323165"/>
          </a:xfrm>
        </p:grpSpPr>
        <p:pic>
          <p:nvPicPr>
            <p:cNvPr id="27" name="Picture 9" descr="image.png">
              <a:extLst>
                <a:ext uri="{FF2B5EF4-FFF2-40B4-BE49-F238E27FC236}">
                  <a16:creationId xmlns:a16="http://schemas.microsoft.com/office/drawing/2014/main" id="{07254022-C611-4F7D-A079-901B9A254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447800"/>
              <a:ext cx="266700" cy="266700"/>
            </a:xfrm>
            <a:prstGeom prst="rect">
              <a:avLst/>
            </a:prstGeom>
          </p:spPr>
        </p:pic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9FDBDF57-2B0F-4B85-9006-2030821D36EF}"/>
                </a:ext>
              </a:extLst>
            </p:cNvPr>
            <p:cNvSpPr txBox="1"/>
            <p:nvPr/>
          </p:nvSpPr>
          <p:spPr>
            <a:xfrm>
              <a:off x="666750" y="1409700"/>
              <a:ext cx="1739259" cy="323165"/>
            </a:xfrm>
            <a:prstGeom prst="rect">
              <a:avLst/>
            </a:prstGeom>
            <a:noFill/>
          </p:spPr>
          <p:txBody>
            <a:bodyPr wrap="none" lIns="361950" tIns="0" rIns="0" bIns="0" anchor="t">
              <a:spAutoFit/>
            </a:bodyPr>
            <a:lstStyle/>
            <a:p>
              <a:pPr algn="l"/>
              <a:r>
                <a:rPr lang="pt-BR" sz="2100" b="1" dirty="0">
                  <a:solidFill>
                    <a:srgbClr val="0F243B"/>
                  </a:solidFill>
                  <a:latin typeface="Segoe UI"/>
                </a:rPr>
                <a:t>Específicos</a:t>
              </a:r>
              <a:endParaRPr sz="2100" b="1" i="0" u="none" dirty="0">
                <a:solidFill>
                  <a:srgbClr val="0F243B"/>
                </a:solidFill>
                <a:latin typeface="Segoe U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50" y="2305050"/>
            <a:ext cx="3429000" cy="42672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1500" y="2305050"/>
            <a:ext cx="3429000" cy="42672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0" y="2305050"/>
            <a:ext cx="3429000" cy="42672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6750" y="6562725"/>
            <a:ext cx="342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6750" y="2305050"/>
            <a:ext cx="3429000" cy="38100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6750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86225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1500" y="6562725"/>
            <a:ext cx="342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1500" y="2305050"/>
            <a:ext cx="342900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1500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00975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6250" y="6562725"/>
            <a:ext cx="342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6250" y="2305050"/>
            <a:ext cx="3429000" cy="38100"/>
          </a:xfrm>
          <a:prstGeom prst="rect">
            <a:avLst/>
          </a:prstGeom>
          <a:solidFill>
            <a:srgbClr val="8C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6250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515725" y="2305050"/>
            <a:ext cx="9525" cy="426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667000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775" y="2667000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525" y="2667000"/>
            <a:ext cx="3810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50" y="476250"/>
            <a:ext cx="1150143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 err="1">
                <a:solidFill>
                  <a:srgbClr val="0F243B"/>
                </a:solidFill>
                <a:latin typeface="Segoe UI"/>
              </a:rPr>
              <a:t>Proposta</a:t>
            </a:r>
            <a:r>
              <a:rPr sz="3150" b="1" i="0" u="none" dirty="0">
                <a:solidFill>
                  <a:srgbClr val="0F243B"/>
                </a:solidFill>
                <a:latin typeface="Segoe UI"/>
              </a:rPr>
              <a:t> de </a:t>
            </a:r>
            <a:r>
              <a:rPr sz="3150" b="1" i="0" u="none" dirty="0" err="1">
                <a:solidFill>
                  <a:srgbClr val="0F243B"/>
                </a:solidFill>
                <a:latin typeface="Segoe UI"/>
              </a:rPr>
              <a:t>Solução</a:t>
            </a:r>
            <a:endParaRPr sz="3150" b="1" i="0" u="none" dirty="0">
              <a:solidFill>
                <a:srgbClr val="8C33A1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6750" y="1409700"/>
            <a:ext cx="10953750" cy="58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5A6268"/>
                </a:solidFill>
                <a:latin typeface="Segoe UI"/>
              </a:rPr>
              <a:t>O A-EYEHORUS SENTINEL 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foi desenvolvido através de uma abordagem Data-</a:t>
            </a:r>
            <a:r>
              <a:rPr lang="pt-BR" sz="1500" b="0" i="0" u="none" dirty="0" err="1">
                <a:solidFill>
                  <a:srgbClr val="5A6268"/>
                </a:solidFill>
                <a:latin typeface="Segoe UI"/>
              </a:rPr>
              <a:t>Driven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e Ágil: </a:t>
            </a:r>
            <a:r>
              <a:rPr lang="pt-BR" sz="1500" dirty="0">
                <a:solidFill>
                  <a:srgbClr val="5A6268"/>
                </a:solidFill>
                <a:latin typeface="Segoe UI"/>
              </a:rPr>
              <a:t>t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ransição de um modelo de suporte reativo para preditivo e prescritivo. A solução foi estruturada em três pilares analíticos fundamentais, suportadas por um pipeline. 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2025" y="3143250"/>
            <a:ext cx="308038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43B"/>
                </a:solidFill>
                <a:latin typeface="Segoe UI"/>
              </a:rPr>
              <a:t>Motor Preditivo (Macro)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3562350"/>
            <a:ext cx="2933700" cy="181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Utilização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do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algoritmo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1" i="0" u="none" dirty="0" err="1">
                <a:solidFill>
                  <a:srgbClr val="5A6268"/>
                </a:solidFill>
                <a:latin typeface="Segoe UI"/>
              </a:rPr>
              <a:t>XGBoost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 Regressor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alimentado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por </a:t>
            </a:r>
            <a:r>
              <a:rPr sz="1500" b="0" i="1" u="none" dirty="0">
                <a:solidFill>
                  <a:srgbClr val="5A6268"/>
                </a:solidFill>
                <a:latin typeface="Segoe UI"/>
              </a:rPr>
              <a:t>Lags </a:t>
            </a:r>
            <a:r>
              <a:rPr sz="1500" b="0" i="1" u="none" dirty="0" err="1">
                <a:solidFill>
                  <a:srgbClr val="5A6268"/>
                </a:solidFill>
                <a:latin typeface="Segoe UI"/>
              </a:rPr>
              <a:t>temporais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(D-1 a D-7) para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projetar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volume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futuro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incidentes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permitindo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alocação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tática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recursos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antes dos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picos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6775" y="3143250"/>
            <a:ext cx="308038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43B"/>
                </a:solidFill>
                <a:latin typeface="Segoe UI"/>
              </a:rPr>
              <a:t>Guardião de SLA (Micro)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6775" y="3574649"/>
            <a:ext cx="2933700" cy="2736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Modelo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1" i="0" u="none" dirty="0" err="1">
                <a:solidFill>
                  <a:srgbClr val="5A6268"/>
                </a:solidFill>
                <a:latin typeface="Segoe UI"/>
              </a:rPr>
              <a:t>Classificação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 (</a:t>
            </a:r>
            <a:r>
              <a:rPr sz="1500" b="1" i="0" u="none" dirty="0" err="1">
                <a:solidFill>
                  <a:srgbClr val="5A6268"/>
                </a:solidFill>
                <a:latin typeface="Segoe UI"/>
              </a:rPr>
              <a:t>XGBoost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)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que atua no "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minuto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zero".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Ele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analisa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cada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incidente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novo 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aponta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probabilidade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matemática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quebra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prazo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alcançando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79%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Sensibilidade</a:t>
            </a:r>
            <a:r>
              <a:rPr lang="pt-BR" sz="1500" dirty="0">
                <a:solidFill>
                  <a:srgbClr val="5A6268"/>
                </a:solidFill>
                <a:latin typeface="Segoe UI"/>
              </a:rPr>
              <a:t> e r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edução de falsos positivos com a injeção de "contexto de pressão operacional" no modelo. 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91525" y="3143250"/>
            <a:ext cx="37254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43B"/>
                </a:solidFill>
                <a:latin typeface="Segoe UI"/>
              </a:rPr>
              <a:t>War Room Prescritivo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525" y="3562350"/>
            <a:ext cx="2933700" cy="212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Integração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com 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LLM (</a:t>
            </a:r>
            <a:r>
              <a:rPr sz="1500" b="1" i="0" u="none" dirty="0" err="1">
                <a:solidFill>
                  <a:srgbClr val="5A6268"/>
                </a:solidFill>
                <a:latin typeface="Segoe UI"/>
              </a:rPr>
              <a:t>Groq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 API /</a:t>
            </a:r>
            <a:r>
              <a:rPr lang="pt-BR" sz="1500" b="1" dirty="0">
                <a:solidFill>
                  <a:srgbClr val="5A6268"/>
                </a:solidFill>
                <a:latin typeface="Segoe UI"/>
              </a:rPr>
              <a:t>OpenAIGPT-oss-120b</a:t>
            </a:r>
            <a:r>
              <a:rPr sz="1500" b="1" i="0" u="none" dirty="0">
                <a:solidFill>
                  <a:srgbClr val="5A6268"/>
                </a:solidFill>
                <a:latin typeface="Segoe UI"/>
              </a:rPr>
              <a:t>)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.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Traduzimos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riscos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matemáticos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e 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clusterização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causa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raiz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(K-Means)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em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linguagem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natural,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orientando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analista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forma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executiva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12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0"/>
    </mc:Choice>
    <mc:Fallback xmlns="">
      <p:transition spd="slow" advTm="3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750" y="476250"/>
            <a:ext cx="1150143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150" b="1" i="0" u="none" dirty="0">
                <a:solidFill>
                  <a:srgbClr val="8C33A1"/>
                </a:solidFill>
                <a:latin typeface="Segoe UI"/>
              </a:rPr>
              <a:t>Arquitetura da Solução</a:t>
            </a:r>
            <a:endParaRPr sz="3150" b="1" i="0" u="none" dirty="0">
              <a:solidFill>
                <a:srgbClr val="8C33A1"/>
              </a:solidFill>
              <a:latin typeface="Segoe UI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EAD43784-7AB6-46FA-AFE6-499AB3661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" y="1285875"/>
            <a:ext cx="11049000" cy="539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00"/>
    </mc:Choice>
    <mc:Fallback xmlns="">
      <p:transition spd="slow" advTm="4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116609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33" y="6172200"/>
            <a:ext cx="1714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476250"/>
            <a:ext cx="1150143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243B"/>
                </a:solidFill>
                <a:latin typeface="Segoe UI"/>
              </a:rPr>
              <a:t>Demonstração: </a:t>
            </a:r>
            <a:r>
              <a:rPr sz="3150" b="1" i="0" u="none">
                <a:solidFill>
                  <a:srgbClr val="8C33A1"/>
                </a:solidFill>
                <a:latin typeface="Segoe UI"/>
              </a:rPr>
              <a:t>Dashboard A-EYEHORUS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1004" y="3716684"/>
            <a:ext cx="71698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 dirty="0">
                <a:solidFill>
                  <a:srgbClr val="475569"/>
                </a:solidFill>
                <a:latin typeface="Segoe UI"/>
              </a:rPr>
              <a:t>[COLE AQUI O PRINT DO SEU DASHBOARD POWER BI]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386" y="4031009"/>
            <a:ext cx="10369227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5A6268"/>
                </a:solidFill>
                <a:latin typeface="Segoe UI"/>
              </a:rPr>
              <a:t>Mostre o Menu Lateral, as Previsões D+1/D+7, a Matriz de Risco (Farol) e a Tabela de Recomendações LLM.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B7CD578-0DBA-4E40-9462-EE1A5FEB38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8950" y="1275321"/>
            <a:ext cx="8356900" cy="4701068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C2E1ED3A-740A-4CB3-9B1C-71A99C986583}"/>
              </a:ext>
            </a:extLst>
          </p:cNvPr>
          <p:cNvSpPr txBox="1"/>
          <p:nvPr/>
        </p:nvSpPr>
        <p:spPr>
          <a:xfrm>
            <a:off x="-345281" y="6124575"/>
            <a:ext cx="12882562" cy="21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 dirty="0">
                <a:solidFill>
                  <a:srgbClr val="5A6268"/>
                </a:solidFill>
                <a:latin typeface="Segoe UI"/>
              </a:rPr>
              <a:t>Link de </a:t>
            </a:r>
            <a:r>
              <a:rPr sz="1200" b="1" i="0" u="none" dirty="0" err="1">
                <a:solidFill>
                  <a:srgbClr val="5A6268"/>
                </a:solidFill>
                <a:latin typeface="Segoe UI"/>
              </a:rPr>
              <a:t>Acesso</a:t>
            </a:r>
            <a:r>
              <a:rPr sz="1200" b="1" i="0" u="none" dirty="0">
                <a:solidFill>
                  <a:srgbClr val="5A6268"/>
                </a:solidFill>
                <a:latin typeface="Segoe UI"/>
              </a:rPr>
              <a:t> (Power BI)</a:t>
            </a:r>
            <a:r>
              <a:rPr lang="pt-BR" sz="1200" b="1" i="0" u="none" dirty="0">
                <a:solidFill>
                  <a:srgbClr val="5A6268"/>
                </a:solidFill>
                <a:latin typeface="Segoe UI"/>
              </a:rPr>
              <a:t>:</a:t>
            </a:r>
            <a:r>
              <a:rPr lang="pt-BR" sz="12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lang="pt-BR" sz="1200" b="0" i="0" u="none" dirty="0">
                <a:solidFill>
                  <a:srgbClr val="1573B7"/>
                </a:solidFill>
                <a:latin typeface="Segoe UI"/>
                <a:hlinkClick r:id="rId7"/>
              </a:rPr>
              <a:t>[Link]</a:t>
            </a:r>
            <a:r>
              <a:rPr lang="pt-BR" sz="1200" b="0" i="0" u="none" dirty="0">
                <a:solidFill>
                  <a:srgbClr val="1573B7"/>
                </a:solidFill>
                <a:latin typeface="Segoe UI"/>
              </a:rPr>
              <a:t> </a:t>
            </a:r>
            <a:r>
              <a:rPr sz="1200" b="0" i="0" u="none" dirty="0">
                <a:solidFill>
                  <a:srgbClr val="5A6268"/>
                </a:solidFill>
                <a:latin typeface="Segoe UI"/>
              </a:rPr>
              <a:t>|  </a:t>
            </a:r>
            <a:r>
              <a:rPr sz="1200" b="1" i="0" u="none" dirty="0" err="1">
                <a:solidFill>
                  <a:srgbClr val="5A6268"/>
                </a:solidFill>
                <a:latin typeface="Segoe UI"/>
              </a:rPr>
              <a:t>Vídeo</a:t>
            </a:r>
            <a:r>
              <a:rPr sz="1200" b="1" i="0" u="none" dirty="0">
                <a:solidFill>
                  <a:srgbClr val="5A6268"/>
                </a:solidFill>
                <a:latin typeface="Segoe UI"/>
              </a:rPr>
              <a:t> Pitch (YouTube):</a:t>
            </a:r>
            <a:r>
              <a:rPr sz="12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200" b="0" i="0" u="none" dirty="0">
                <a:solidFill>
                  <a:srgbClr val="E53E3E"/>
                </a:solidFill>
                <a:latin typeface="Segoe UI"/>
              </a:rPr>
              <a:t> </a:t>
            </a:r>
            <a:r>
              <a:rPr sz="1200" b="0" i="0" u="none" dirty="0">
                <a:solidFill>
                  <a:srgbClr val="E53E3E"/>
                </a:solidFill>
                <a:latin typeface="Segoe UI"/>
                <a:hlinkClick r:id="rId8"/>
              </a:rPr>
              <a:t>[Link]</a:t>
            </a:r>
            <a:endParaRPr sz="1200" b="0" i="0" u="none" dirty="0">
              <a:solidFill>
                <a:srgbClr val="E53E3E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00"/>
    </mc:Choice>
    <mc:Fallback xmlns="">
      <p:transition spd="slow" advTm="1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083843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493543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83843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5493543"/>
            <a:ext cx="114300" cy="2000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6750" y="1409700"/>
            <a:ext cx="10858500" cy="1912143"/>
          </a:xfrm>
          <a:prstGeom prst="roundRect">
            <a:avLst>
              <a:gd name="adj" fmla="val 3985"/>
            </a:avLst>
          </a:prstGeom>
          <a:solidFill>
            <a:srgbClr val="0F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6750" y="1409700"/>
            <a:ext cx="57150" cy="1912143"/>
          </a:xfrm>
          <a:prstGeom prst="rect">
            <a:avLst/>
          </a:prstGeom>
          <a:solidFill>
            <a:srgbClr val="8C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731418"/>
            <a:ext cx="2190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31418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476250"/>
            <a:ext cx="1150143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243B"/>
                </a:solidFill>
                <a:latin typeface="Segoe UI"/>
              </a:rPr>
              <a:t>Conclusão e </a:t>
            </a:r>
            <a:r>
              <a:rPr sz="3150" b="1" i="0" u="none">
                <a:solidFill>
                  <a:srgbClr val="8C33A1"/>
                </a:solidFill>
                <a:latin typeface="Segoe UI"/>
              </a:rP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1935595"/>
            <a:ext cx="10325100" cy="6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 dirty="0">
                <a:solidFill>
                  <a:srgbClr val="FFFFFF"/>
                </a:solidFill>
                <a:latin typeface="Segoe UI"/>
              </a:rPr>
              <a:t>"</a:t>
            </a:r>
            <a:r>
              <a:rPr lang="pt-BR" sz="1650" b="0" i="1" u="none" dirty="0">
                <a:solidFill>
                  <a:srgbClr val="FFFFFF"/>
                </a:solidFill>
                <a:latin typeface="Segoe UI"/>
              </a:rPr>
              <a:t>O MVP provou a viabilidade de uma operação preditiva ao combinar </a:t>
            </a:r>
            <a:r>
              <a:rPr lang="pt-BR" sz="1650" b="0" i="1" u="none" dirty="0" err="1">
                <a:solidFill>
                  <a:srgbClr val="FFFFFF"/>
                </a:solidFill>
                <a:latin typeface="Segoe UI"/>
              </a:rPr>
              <a:t>XGBoost</a:t>
            </a:r>
            <a:r>
              <a:rPr lang="pt-BR" sz="1650" b="0" i="1" u="none" dirty="0">
                <a:solidFill>
                  <a:srgbClr val="FFFFFF"/>
                </a:solidFill>
                <a:latin typeface="Segoe UI"/>
              </a:rPr>
              <a:t> (79% de Recall no minuto zero) e GPT-</a:t>
            </a:r>
            <a:r>
              <a:rPr lang="pt-BR" sz="1650" b="0" i="1" u="none" dirty="0" err="1">
                <a:solidFill>
                  <a:srgbClr val="FFFFFF"/>
                </a:solidFill>
                <a:latin typeface="Segoe UI"/>
              </a:rPr>
              <a:t>oss</a:t>
            </a:r>
            <a:r>
              <a:rPr lang="pt-BR" sz="1650" b="0" i="1" u="none" dirty="0">
                <a:solidFill>
                  <a:srgbClr val="FFFFFF"/>
                </a:solidFill>
                <a:latin typeface="Segoe UI"/>
              </a:rPr>
              <a:t>, estabelecendo o A-EYEHORUS como um vigia sistêmico no apoio às decisões do analista.</a:t>
            </a:r>
            <a:endParaRPr sz="1650" b="0" i="1" u="none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750" y="3702843"/>
            <a:ext cx="6875859" cy="2190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243B"/>
                </a:solidFill>
                <a:latin typeface="Segoe UI"/>
              </a:rPr>
              <a:t>Aprendizados e Limitações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3702843"/>
            <a:ext cx="5905500" cy="2190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243B"/>
                </a:solidFill>
                <a:latin typeface="Segoe UI"/>
              </a:rPr>
              <a:t>Evoluções do Projeto (Roadmap)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064793"/>
            <a:ext cx="5000625" cy="119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0F243B"/>
                </a:solidFill>
                <a:latin typeface="Segoe UI"/>
              </a:rPr>
              <a:t>Sensibilidade</a:t>
            </a:r>
            <a:r>
              <a:rPr sz="1500" b="1" i="0" u="none" dirty="0">
                <a:solidFill>
                  <a:srgbClr val="0F243B"/>
                </a:solidFill>
                <a:latin typeface="Segoe UI"/>
              </a:rPr>
              <a:t> vs </a:t>
            </a:r>
            <a:r>
              <a:rPr sz="1500" b="1" i="0" u="none" dirty="0" err="1">
                <a:solidFill>
                  <a:srgbClr val="0F243B"/>
                </a:solidFill>
                <a:latin typeface="Segoe UI"/>
              </a:rPr>
              <a:t>Precisão</a:t>
            </a:r>
            <a:r>
              <a:rPr sz="1500" b="1" i="0" u="none" dirty="0">
                <a:solidFill>
                  <a:srgbClr val="0F243B"/>
                </a:solidFill>
                <a:latin typeface="Segoe UI"/>
              </a:rPr>
              <a:t>: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Em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operações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risco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foi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validado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que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otimizar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modelo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para </a:t>
            </a:r>
            <a:r>
              <a:rPr sz="1500" b="0" i="1" u="none" dirty="0">
                <a:solidFill>
                  <a:srgbClr val="5A6268"/>
                </a:solidFill>
                <a:latin typeface="Segoe UI"/>
              </a:rPr>
              <a:t>Recall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(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minimizar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em 50%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Falsos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Negativos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ao injetar a “pressão operacional”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) é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mais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crítico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do que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focar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na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Acurácia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global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0125" y="5474493"/>
            <a:ext cx="5000625" cy="119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0F243B"/>
                </a:solidFill>
                <a:latin typeface="Segoe UI"/>
              </a:rPr>
              <a:t>Limitação</a:t>
            </a:r>
            <a:r>
              <a:rPr sz="1500" b="1" i="0" u="none" dirty="0">
                <a:solidFill>
                  <a:srgbClr val="0F243B"/>
                </a:solidFill>
                <a:latin typeface="Segoe UI"/>
              </a:rPr>
              <a:t>: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Modelos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baseados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em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Lags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temporais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requerem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base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histórica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higienizada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para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não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propagar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anomalias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para as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previsões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futuras</a:t>
            </a:r>
            <a:r>
              <a:rPr lang="pt-BR" sz="1500" dirty="0">
                <a:solidFill>
                  <a:srgbClr val="5A6268"/>
                </a:solidFill>
                <a:latin typeface="Segoe UI"/>
              </a:rPr>
              <a:t>. A base</a:t>
            </a:r>
            <a:r>
              <a:rPr lang="pt-BR" sz="1500" b="0" i="0" u="none" dirty="0">
                <a:solidFill>
                  <a:srgbClr val="5A6268"/>
                </a:solidFill>
                <a:latin typeface="Segoe UI"/>
              </a:rPr>
              <a:t> exigiu o descarte do histórico de 2023-2024 devido a ruídos.</a:t>
            </a:r>
            <a:endParaRPr sz="1500" b="0" i="0" u="none" dirty="0">
              <a:solidFill>
                <a:srgbClr val="5A6268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9875" y="4064793"/>
            <a:ext cx="50006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0F243B"/>
                </a:solidFill>
                <a:latin typeface="Segoe UI"/>
              </a:rPr>
              <a:t>Automação</a:t>
            </a:r>
            <a:r>
              <a:rPr sz="1500" b="1" i="0" u="none" dirty="0">
                <a:solidFill>
                  <a:srgbClr val="0F243B"/>
                </a:solidFill>
                <a:latin typeface="Segoe UI"/>
              </a:rPr>
              <a:t> </a:t>
            </a:r>
            <a:r>
              <a:rPr sz="1500" b="1" i="0" u="none" dirty="0" err="1">
                <a:solidFill>
                  <a:srgbClr val="0F243B"/>
                </a:solidFill>
                <a:latin typeface="Segoe UI"/>
              </a:rPr>
              <a:t>Completa</a:t>
            </a:r>
            <a:r>
              <a:rPr sz="1500" b="1" i="0" u="none" dirty="0">
                <a:solidFill>
                  <a:srgbClr val="0F243B"/>
                </a:solidFill>
                <a:latin typeface="Segoe UI"/>
              </a:rPr>
              <a:t> (Airflow):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Orquestrar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script Python para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rodar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*jobs* 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cada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15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minutos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alimentando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Oracle de forma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autônoma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5474493"/>
            <a:ext cx="50006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243B"/>
                </a:solidFill>
                <a:latin typeface="Segoe UI"/>
              </a:rPr>
              <a:t>Feedback Loop da IA: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Implementar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uma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validação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onde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analista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confirma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se 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recomendação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da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GenAI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foi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útil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,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retroalimentando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o </a:t>
            </a:r>
            <a:r>
              <a:rPr sz="1500" b="0" i="0" u="none" dirty="0" err="1">
                <a:solidFill>
                  <a:srgbClr val="5A6268"/>
                </a:solidFill>
                <a:latin typeface="Segoe UI"/>
              </a:rPr>
              <a:t>modelo</a:t>
            </a:r>
            <a:r>
              <a:rPr sz="1500" b="0" i="0" u="none" dirty="0">
                <a:solidFill>
                  <a:srgbClr val="5A6268"/>
                </a:solidFill>
                <a:latin typeface="Segoe UI"/>
              </a:rPr>
              <a:t> com RLHF.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0"/>
    </mc:Choice>
    <mc:Fallback xmlns="">
      <p:transition spd="slow" advTm="2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76250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78340" y="1524000"/>
            <a:ext cx="4435319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447925"/>
            <a:ext cx="9525000" cy="1074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A0ABC0"/>
                </a:solidFill>
                <a:latin typeface="Segoe UI"/>
              </a:rPr>
              <a:t>Finalizamos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 com </a:t>
            </a:r>
            <a:r>
              <a:rPr sz="1800" b="0" i="0" u="none" dirty="0" err="1">
                <a:solidFill>
                  <a:srgbClr val="A0ABC0"/>
                </a:solidFill>
                <a:latin typeface="Segoe UI"/>
              </a:rPr>
              <a:t>sucesso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 a jornada de </a:t>
            </a:r>
            <a:r>
              <a:rPr sz="1800" b="0" i="0" u="none" dirty="0" err="1">
                <a:solidFill>
                  <a:srgbClr val="A0ABC0"/>
                </a:solidFill>
                <a:latin typeface="Segoe UI"/>
              </a:rPr>
              <a:t>construção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 do A-EYEHORUS SENTINEL. Um </a:t>
            </a:r>
            <a:r>
              <a:rPr sz="1800" b="0" i="0" u="none" dirty="0" err="1">
                <a:solidFill>
                  <a:srgbClr val="A0ABC0"/>
                </a:solidFill>
                <a:latin typeface="Segoe UI"/>
              </a:rPr>
              <a:t>agradecimento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 especial </a:t>
            </a:r>
            <a:r>
              <a:rPr sz="1800" b="0" i="0" u="none" dirty="0" err="1">
                <a:solidFill>
                  <a:srgbClr val="A0ABC0"/>
                </a:solidFill>
                <a:latin typeface="Segoe UI"/>
              </a:rPr>
              <a:t>aos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 </a:t>
            </a:r>
            <a:r>
              <a:rPr lang="pt-BR" sz="1800" b="0" i="0" u="none" dirty="0">
                <a:solidFill>
                  <a:srgbClr val="A0ABC0"/>
                </a:solidFill>
                <a:latin typeface="Segoe UI"/>
              </a:rPr>
              <a:t>antigos colegas de grupo para as primeiras sprints e ao Google Gemini (e criadores) pelas orientações</a:t>
            </a:r>
            <a:r>
              <a:rPr sz="1800" b="0" i="0" u="none" dirty="0">
                <a:solidFill>
                  <a:srgbClr val="A0ABC0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4382" y="4021187"/>
            <a:ext cx="4923234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Segoe UI"/>
              </a:rPr>
              <a:t>Enterprise Challenge 2026 |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4382" y="4356348"/>
            <a:ext cx="492323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A0ABC0"/>
                </a:solidFill>
                <a:latin typeface="Segoe UI"/>
              </a:rPr>
              <a:t>Vitor Fernandes Antunes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1552</Words>
  <Application>Microsoft Office PowerPoint</Application>
  <PresentationFormat>Widescreen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Google Sans Text</vt:lpstr>
      <vt:lpstr>Segoe UI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Vitor Antunes</dc:creator>
  <cp:keywords/>
  <dc:description>generated using python-pptx</dc:description>
  <cp:lastModifiedBy>Vitor Antunes</cp:lastModifiedBy>
  <cp:revision>23</cp:revision>
  <dcterms:created xsi:type="dcterms:W3CDTF">2013-01-27T09:14:16Z</dcterms:created>
  <dcterms:modified xsi:type="dcterms:W3CDTF">2026-09-23T05:44:28Z</dcterms:modified>
  <cp:category/>
</cp:coreProperties>
</file>